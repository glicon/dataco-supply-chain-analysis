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5f8a54d-69e0-b602-4f11-1416d16c3e55}">
          <p14:sldIdLst>
            <p14:sldId id="256"/>
            <p14:sldId id="257"/>
            <p14:sldId id="258"/>
          </p14:sldIdLst>
        </p14:section>
        <p14:section name="Findings" id="{000698e7-40f3-e799-0893-1ae463522065}">
          <p14:sldIdLst>
            <p14:sldId id="259"/>
            <p14:sldId id="260"/>
            <p14:sldId id="261"/>
          </p14:sldIdLst>
        </p14:section>
        <p14:section name="Recommendations" id="{29db027e-ff5e-cc52-444b-44486b71cc15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864"/>
                </a:solidFill>
                <a:latin typeface="+mn-lt"/>
              </a:rPr>
              <a:t>Average delivery time (days)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Promised days</c:v>
                </c:pt>
              </c:strCache>
            </c:strRef>
          </c:tx>
          <c:spPr>
            <a:solidFill>
              <a:srgbClr val="9CC9D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days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2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8E8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22A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864"/>
                </a:solidFill>
                <a:latin typeface="+mn-lt"/>
              </a:rPr>
              <a:t>Units bought per order line, by discount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per order line</c:v>
                </c:pt>
              </c:strCache>
            </c:strRef>
          </c:tx>
          <c:spPr>
            <a:solidFill>
              <a:srgbClr val="2E86AB"/>
            </a:solidFill>
            <a:ln w="381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0%</c:v>
                  </c:pt>
                  <c:pt idx="1">
                    <c:v>1%</c:v>
                  </c:pt>
                  <c:pt idx="2">
                    <c:v>2%</c:v>
                  </c:pt>
                  <c:pt idx="3">
                    <c:v>3%</c:v>
                  </c:pt>
                  <c:pt idx="4">
                    <c:v>4%</c:v>
                  </c:pt>
                  <c:pt idx="5">
                    <c:v>5%</c:v>
                  </c:pt>
                  <c:pt idx="6">
                    <c:v>6%</c:v>
                  </c:pt>
                  <c:pt idx="7">
                    <c:v>7%</c:v>
                  </c:pt>
                  <c:pt idx="8">
                    <c:v>9%</c:v>
                  </c:pt>
                  <c:pt idx="9">
                    <c:v>10%</c:v>
                  </c:pt>
                  <c:pt idx="10">
                    <c:v>12%</c:v>
                  </c:pt>
                  <c:pt idx="11">
                    <c:v>13%</c:v>
                  </c:pt>
                  <c:pt idx="12">
                    <c:v>15%</c:v>
                  </c:pt>
                  <c:pt idx="13">
                    <c:v>16%</c:v>
                  </c:pt>
                  <c:pt idx="14">
                    <c:v>17%</c:v>
                  </c:pt>
                  <c:pt idx="15">
                    <c:v>18%</c:v>
                  </c:pt>
                  <c:pt idx="16">
                    <c:v>20%</c:v>
                  </c:pt>
                  <c:pt idx="17">
                    <c:v>25%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2.131</c:v>
                </c:pt>
                <c:pt idx="1">
                  <c:v>2.127</c:v>
                </c:pt>
                <c:pt idx="2">
                  <c:v>2.128</c:v>
                </c:pt>
                <c:pt idx="3">
                  <c:v>2.127</c:v>
                </c:pt>
                <c:pt idx="4">
                  <c:v>2.127</c:v>
                </c:pt>
                <c:pt idx="5">
                  <c:v>2.128</c:v>
                </c:pt>
                <c:pt idx="6">
                  <c:v>2.127</c:v>
                </c:pt>
                <c:pt idx="7">
                  <c:v>2.128</c:v>
                </c:pt>
                <c:pt idx="8">
                  <c:v>2.126</c:v>
                </c:pt>
                <c:pt idx="9">
                  <c:v>2.128</c:v>
                </c:pt>
                <c:pt idx="10">
                  <c:v>2.128</c:v>
                </c:pt>
                <c:pt idx="11">
                  <c:v>2.129</c:v>
                </c:pt>
                <c:pt idx="12">
                  <c:v>2.127</c:v>
                </c:pt>
                <c:pt idx="13">
                  <c:v>2.125</c:v>
                </c:pt>
                <c:pt idx="14">
                  <c:v>2.125</c:v>
                </c:pt>
                <c:pt idx="15">
                  <c:v>2.129</c:v>
                </c:pt>
                <c:pt idx="16">
                  <c:v>2.129</c:v>
                </c:pt>
                <c:pt idx="17">
                  <c:v>2.129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E8E8E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E8E8E"/>
                    </a:solidFill>
                    <a:latin typeface="Arial"/>
                  </a:rPr>
                  <a:t>Discount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9DF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8E8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864"/>
                </a:solidFill>
                <a:latin typeface="+mn-lt"/>
              </a:rPr>
              <a:t>Share of orders flagged as suspected fraud, by payment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C73E1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3E1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C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3CC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CC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Transfer</c:v>
                  </c:pt>
                  <c:pt idx="1">
                    <c:v>Debit</c:v>
                  </c:pt>
                  <c:pt idx="2">
                    <c:v>Payment</c:v>
                  </c:pt>
                  <c:pt idx="3">
                    <c:v>Cash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0.0823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22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E8E8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answers three questions from DataCo's COO: why so many deliveries are late, where profit is being lost, and how much fraud costs. Data: the public DataCo Smart Supply Chain dataset, 180,519 order lines from January 2015 to January 2018.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short version: three problems, three practical fixes. Resetting delivery promises cuts the late rate from 57.3% to 34.3%. Capping discounts at 10% would have added $1.14M of profit. Holding bank-transfer orders until payment clears catches every suspected fraud case in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went through four stages. SQL cleaned it and logged every fix, such as discount rates stored with tiny decimal errors. Python was used for exploration. Power BI holds a galaxy schema with two fact tables, orders and order items, sharing calendar, market, product and customer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36,048 of 62,897 shipped orders arrived late, by 1.6 days on average. Each mode delivers consistently, but First Class promises 1 day and takes 2, and Second Class promises 2 and takes 4. Standard Class keeps its promise. Matching the promise to reality cuts the late rate to 34.3% without moving a parcel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buy about 2.13 units per order line whether the discount is 0% or 25%, so larger discounts don't increase volume. The average discount is 10.1% of gross sales. Capping discounts at 10% would have added $1.14M of profit across the data, about $367K in 2017. This assumes volume holds, which the flat line supports but a pilot should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1,488 orders were flagged as suspected fraud, worth $741K, or 18.7% of profit, and rising: $256K in 2017, up 7.1%. All of them were paid by bank transfer, which has an 8.2% fraud rate; every other method has 0%. Holding transfers until payment clears catches all of it, at the cost of checking 27.5% of orders, about 112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priority: first the delivery promise, a free policy change with an immediate effect on on-time performance. Second, the transfer hold, protecting about $256K a year for roughly three checks an hour. Third, the discount cap: the largest profit gain, but volume should be monitored for one or two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four pages plus a tooltip and a drill-through for each product category. Everything is on GitHub. Two caveats: the fraud label is suspected fraud, and delivery status was excluded from the fraud work to avoid data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DataCo Supply Chain Analysis  ·  Adebayo Atkinson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LICON/dataco-supply-chain-analysi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Fixing DataCo's late deliveries, lost margin and fraud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Supply chain analysis  ·  65,752 orders  ·  Jan 2015 – Jan 2018</a:t>
            </a:r>
            <a:endParaRPr lang="en-US" sz="2000" dirty="0"/>
          </a:p>
        </p:txBody>
      </p:sp>
      <p:sp>
        <p:nvSpPr>
          <p:cNvPr id="4" name="Author"/>
          <p:cNvSpPr txBox="1"/>
          <p:nvPr/>
        </p:nvSpPr>
        <p:spPr>
          <a:xfrm>
            <a:off x="73152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Adebayo Atkinson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Data Analyst  ·  SQL  ·  Python  · 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fixes could add $1.14M profit and cut late deliveries from 57% to 34%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Card 1 tag"/>
          <p:cNvSpPr txBox="1"/>
          <p:nvPr/>
        </p:nvSpPr>
        <p:spPr>
          <a:xfrm>
            <a:off x="868680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4"/>
                </a:solidFill>
              </a:rPr>
              <a:t>LATE DELIVERIES</a:t>
            </a:r>
            <a:endParaRPr lang="en-US" sz="1300" dirty="0"/>
          </a:p>
        </p:txBody>
      </p:sp>
      <p:sp>
        <p:nvSpPr>
          <p:cNvPr id="5" name="Card 1 before"/>
          <p:cNvSpPr txBox="1"/>
          <p:nvPr/>
        </p:nvSpPr>
        <p:spPr>
          <a:xfrm>
            <a:off x="868680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57.3%</a:t>
            </a:r>
            <a:endParaRPr lang="en-US" sz="4000" dirty="0"/>
          </a:p>
        </p:txBody>
      </p:sp>
      <p:sp>
        <p:nvSpPr>
          <p:cNvPr id="6" name="Card 1 before label"/>
          <p:cNvSpPr txBox="1"/>
          <p:nvPr/>
        </p:nvSpPr>
        <p:spPr>
          <a:xfrm>
            <a:off x="868680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shipped orders arrive late</a:t>
            </a:r>
            <a:endParaRPr lang="en-US" sz="1500" dirty="0"/>
          </a:p>
        </p:txBody>
      </p:sp>
      <p:sp>
        <p:nvSpPr>
          <p:cNvPr id="7" name="Card 1 arrow"/>
          <p:cNvSpPr/>
          <p:nvPr/>
        </p:nvSpPr>
        <p:spPr>
          <a:xfrm>
            <a:off x="868680" y="3749040"/>
            <a:ext cx="320040" cy="4114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8" name="Card 1 after"/>
          <p:cNvSpPr txBox="1"/>
          <p:nvPr/>
        </p:nvSpPr>
        <p:spPr>
          <a:xfrm>
            <a:off x="868680" y="4251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34.3%</a:t>
            </a:r>
            <a:endParaRPr lang="en-US" sz="4000" dirty="0"/>
          </a:p>
        </p:txBody>
      </p:sp>
      <p:sp>
        <p:nvSpPr>
          <p:cNvPr id="9" name="Card 1 fix"/>
          <p:cNvSpPr txBox="1"/>
          <p:nvPr/>
        </p:nvSpPr>
        <p:spPr>
          <a:xfrm>
            <a:off x="868680" y="5029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Fix: promise delivery times we can actually meet</a:t>
            </a:r>
            <a:endParaRPr lang="en-US" sz="1500" dirty="0"/>
          </a:p>
        </p:txBody>
      </p:sp>
      <p:sp>
        <p:nvSpPr>
          <p:cNvPr id="10" name="Card 2"/>
          <p:cNvSpPr/>
          <p:nvPr/>
        </p:nvSpPr>
        <p:spPr>
          <a:xfrm>
            <a:off x="4325112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Card 2 tag"/>
          <p:cNvSpPr txBox="1"/>
          <p:nvPr/>
        </p:nvSpPr>
        <p:spPr>
          <a:xfrm>
            <a:off x="4645152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</a:rPr>
              <a:t>LOSS-MAKING DISCOUNTS</a:t>
            </a:r>
            <a:endParaRPr lang="en-US" sz="1300" dirty="0"/>
          </a:p>
        </p:txBody>
      </p:sp>
      <p:sp>
        <p:nvSpPr>
          <p:cNvPr id="12" name="Card 2 before"/>
          <p:cNvSpPr txBox="1"/>
          <p:nvPr/>
        </p:nvSpPr>
        <p:spPr>
          <a:xfrm>
            <a:off x="4645152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−$3.88M</a:t>
            </a:r>
            <a:endParaRPr lang="en-US" sz="4000" dirty="0"/>
          </a:p>
        </p:txBody>
      </p:sp>
      <p:sp>
        <p:nvSpPr>
          <p:cNvPr id="13" name="Card 2 before label"/>
          <p:cNvSpPr txBox="1"/>
          <p:nvPr/>
        </p:nvSpPr>
        <p:spPr>
          <a:xfrm>
            <a:off x="4645152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lost on items sold below cost</a:t>
            </a:r>
            <a:endParaRPr lang="en-US" sz="1500" dirty="0"/>
          </a:p>
        </p:txBody>
      </p:sp>
      <p:sp>
        <p:nvSpPr>
          <p:cNvPr id="14" name="Card 2 arrow"/>
          <p:cNvSpPr/>
          <p:nvPr/>
        </p:nvSpPr>
        <p:spPr>
          <a:xfrm>
            <a:off x="4645152" y="3749040"/>
            <a:ext cx="320040" cy="4114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5" name="Card 2 after"/>
          <p:cNvSpPr txBox="1"/>
          <p:nvPr/>
        </p:nvSpPr>
        <p:spPr>
          <a:xfrm>
            <a:off x="4645152" y="4251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+$1.14M</a:t>
            </a:r>
            <a:endParaRPr lang="en-US" sz="4000" dirty="0"/>
          </a:p>
        </p:txBody>
      </p:sp>
      <p:sp>
        <p:nvSpPr>
          <p:cNvPr id="16" name="Card 2 fix"/>
          <p:cNvSpPr txBox="1"/>
          <p:nvPr/>
        </p:nvSpPr>
        <p:spPr>
          <a:xfrm>
            <a:off x="4645152" y="5029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Fix: cap discounts at 10%</a:t>
            </a:r>
            <a:endParaRPr lang="en-US" sz="1500" dirty="0"/>
          </a:p>
        </p:txBody>
      </p:sp>
      <p:sp>
        <p:nvSpPr>
          <p:cNvPr id="17" name="Card 3"/>
          <p:cNvSpPr/>
          <p:nvPr/>
        </p:nvSpPr>
        <p:spPr>
          <a:xfrm>
            <a:off x="8101584" y="160020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Card 3 tag"/>
          <p:cNvSpPr txBox="1"/>
          <p:nvPr/>
        </p:nvSpPr>
        <p:spPr>
          <a:xfrm>
            <a:off x="8421624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</a:rPr>
              <a:t>PAYMENT FRAUD</a:t>
            </a:r>
            <a:endParaRPr lang="en-US" sz="1300" dirty="0"/>
          </a:p>
        </p:txBody>
      </p:sp>
      <p:sp>
        <p:nvSpPr>
          <p:cNvPr id="19" name="Card 3 before"/>
          <p:cNvSpPr txBox="1"/>
          <p:nvPr/>
        </p:nvSpPr>
        <p:spPr>
          <a:xfrm>
            <a:off x="8421624" y="2331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$741K</a:t>
            </a:r>
            <a:endParaRPr lang="en-US" sz="4000" dirty="0"/>
          </a:p>
        </p:txBody>
      </p:sp>
      <p:sp>
        <p:nvSpPr>
          <p:cNvPr id="20" name="Card 3 before label"/>
          <p:cNvSpPr txBox="1"/>
          <p:nvPr/>
        </p:nvSpPr>
        <p:spPr>
          <a:xfrm>
            <a:off x="8421624" y="3108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suspected fraud, 18.7% of profit</a:t>
            </a:r>
            <a:endParaRPr lang="en-US" sz="1500" dirty="0"/>
          </a:p>
        </p:txBody>
      </p:sp>
      <p:sp>
        <p:nvSpPr>
          <p:cNvPr id="21" name="Card 3 arrow"/>
          <p:cNvSpPr/>
          <p:nvPr/>
        </p:nvSpPr>
        <p:spPr>
          <a:xfrm>
            <a:off x="8421624" y="3749040"/>
            <a:ext cx="320040" cy="4114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2" name="Card 3 after"/>
          <p:cNvSpPr txBox="1"/>
          <p:nvPr/>
        </p:nvSpPr>
        <p:spPr>
          <a:xfrm>
            <a:off x="8421624" y="4251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100%</a:t>
            </a:r>
            <a:endParaRPr lang="en-US" sz="4000" dirty="0"/>
          </a:p>
        </p:txBody>
      </p:sp>
      <p:sp>
        <p:nvSpPr>
          <p:cNvPr id="23" name="Card 3 fix"/>
          <p:cNvSpPr txBox="1"/>
          <p:nvPr/>
        </p:nvSpPr>
        <p:spPr>
          <a:xfrm>
            <a:off x="8421624" y="5029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Fix: hold bank transfers until paid, catching all of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180,519 order lines were cleaned and modelled before any analysis</a:t>
            </a:r>
            <a:endParaRPr lang="en-US" sz="3200" dirty="0"/>
          </a:p>
        </p:txBody>
      </p:sp>
      <p:sp>
        <p:nvSpPr>
          <p:cNvPr id="3" name="Step 1 card"/>
          <p:cNvSpPr/>
          <p:nvPr/>
        </p:nvSpPr>
        <p:spPr>
          <a:xfrm>
            <a:off x="548640" y="1828800"/>
            <a:ext cx="2468880" cy="30175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tep 1 badge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Step 1 number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1 title"/>
          <p:cNvSpPr txBox="1"/>
          <p:nvPr/>
        </p:nvSpPr>
        <p:spPr>
          <a:xfrm>
            <a:off x="82296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Raw data</a:t>
            </a:r>
            <a:endParaRPr lang="en-US" sz="2000" dirty="0"/>
          </a:p>
        </p:txBody>
      </p:sp>
      <p:sp>
        <p:nvSpPr>
          <p:cNvPr id="7" name="Step 1 detail"/>
          <p:cNvSpPr txBox="1"/>
          <p:nvPr/>
        </p:nvSpPr>
        <p:spPr>
          <a:xfrm>
            <a:off x="822960" y="333756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180,519 order lines, 53 columns, Jan 2015 – Jan 2018</a:t>
            </a:r>
            <a:endParaRPr lang="en-US" sz="1500" dirty="0"/>
          </a:p>
        </p:txBody>
      </p:sp>
      <p:sp>
        <p:nvSpPr>
          <p:cNvPr id="8" name="Arrow 1"/>
          <p:cNvSpPr/>
          <p:nvPr/>
        </p:nvSpPr>
        <p:spPr>
          <a:xfrm>
            <a:off x="3090672" y="320040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Step 2 card"/>
          <p:cNvSpPr/>
          <p:nvPr/>
        </p:nvSpPr>
        <p:spPr>
          <a:xfrm>
            <a:off x="3410712" y="1828800"/>
            <a:ext cx="2468880" cy="30175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Step 2 badge"/>
          <p:cNvSpPr/>
          <p:nvPr/>
        </p:nvSpPr>
        <p:spPr>
          <a:xfrm>
            <a:off x="3685032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Step 2 number"/>
          <p:cNvSpPr txBox="1"/>
          <p:nvPr/>
        </p:nvSpPr>
        <p:spPr>
          <a:xfrm>
            <a:off x="368503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tep 2 title"/>
          <p:cNvSpPr txBox="1"/>
          <p:nvPr/>
        </p:nvSpPr>
        <p:spPr>
          <a:xfrm>
            <a:off x="3685032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SQL cleaning</a:t>
            </a:r>
            <a:endParaRPr lang="en-US" sz="2000" dirty="0"/>
          </a:p>
        </p:txBody>
      </p:sp>
      <p:sp>
        <p:nvSpPr>
          <p:cNvPr id="13" name="Step 2 detail"/>
          <p:cNvSpPr txBox="1"/>
          <p:nvPr/>
        </p:nvSpPr>
        <p:spPr>
          <a:xfrm>
            <a:off x="3685032" y="333756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types, rounding and duplicates; every change logged</a:t>
            </a:r>
            <a:endParaRPr lang="en-US" sz="1500" dirty="0"/>
          </a:p>
        </p:txBody>
      </p:sp>
      <p:sp>
        <p:nvSpPr>
          <p:cNvPr id="14" name="Arrow 2"/>
          <p:cNvSpPr/>
          <p:nvPr/>
        </p:nvSpPr>
        <p:spPr>
          <a:xfrm>
            <a:off x="5952744" y="320040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Step 3 card"/>
          <p:cNvSpPr/>
          <p:nvPr/>
        </p:nvSpPr>
        <p:spPr>
          <a:xfrm>
            <a:off x="6272784" y="1828800"/>
            <a:ext cx="2468880" cy="30175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Step 3 badge"/>
          <p:cNvSpPr/>
          <p:nvPr/>
        </p:nvSpPr>
        <p:spPr>
          <a:xfrm>
            <a:off x="6547104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Step 3 number"/>
          <p:cNvSpPr txBox="1"/>
          <p:nvPr/>
        </p:nvSpPr>
        <p:spPr>
          <a:xfrm>
            <a:off x="654710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tep 3 title"/>
          <p:cNvSpPr txBox="1"/>
          <p:nvPr/>
        </p:nvSpPr>
        <p:spPr>
          <a:xfrm>
            <a:off x="6547104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Python analysis</a:t>
            </a:r>
            <a:endParaRPr lang="en-US" sz="2000" dirty="0"/>
          </a:p>
        </p:txBody>
      </p:sp>
      <p:sp>
        <p:nvSpPr>
          <p:cNvPr id="19" name="Step 3 detail"/>
          <p:cNvSpPr txBox="1"/>
          <p:nvPr/>
        </p:nvSpPr>
        <p:spPr>
          <a:xfrm>
            <a:off x="6547104" y="333756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Explored delivery, margin and fraud patterns in pandas</a:t>
            </a:r>
            <a:endParaRPr lang="en-US" sz="1500" dirty="0"/>
          </a:p>
        </p:txBody>
      </p:sp>
      <p:sp>
        <p:nvSpPr>
          <p:cNvPr id="20" name="Arrow 3"/>
          <p:cNvSpPr/>
          <p:nvPr/>
        </p:nvSpPr>
        <p:spPr>
          <a:xfrm>
            <a:off x="8814816" y="3200400"/>
            <a:ext cx="24688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1" name="Step 4 card"/>
          <p:cNvSpPr/>
          <p:nvPr/>
        </p:nvSpPr>
        <p:spPr>
          <a:xfrm>
            <a:off x="9134856" y="1828800"/>
            <a:ext cx="2468880" cy="30175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Step 4 badge"/>
          <p:cNvSpPr/>
          <p:nvPr/>
        </p:nvSpPr>
        <p:spPr>
          <a:xfrm>
            <a:off x="9409176" y="2103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Step 4 number"/>
          <p:cNvSpPr txBox="1"/>
          <p:nvPr/>
        </p:nvSpPr>
        <p:spPr>
          <a:xfrm>
            <a:off x="940917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tep 4 title"/>
          <p:cNvSpPr txBox="1"/>
          <p:nvPr/>
        </p:nvSpPr>
        <p:spPr>
          <a:xfrm>
            <a:off x="9409176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Power BI model</a:t>
            </a:r>
            <a:endParaRPr lang="en-US" sz="2000" dirty="0"/>
          </a:p>
        </p:txBody>
      </p:sp>
      <p:sp>
        <p:nvSpPr>
          <p:cNvPr id="25" name="Step 4 detail"/>
          <p:cNvSpPr txBox="1"/>
          <p:nvPr/>
        </p:nvSpPr>
        <p:spPr>
          <a:xfrm>
            <a:off x="9409176" y="333756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Galaxy schema: 2 fact tables, shared dimensions, 70+ DAX measures</a:t>
            </a:r>
            <a:endParaRPr lang="en-US" sz="1500" dirty="0"/>
          </a:p>
        </p:txBody>
      </p:sp>
      <p:sp>
        <p:nvSpPr>
          <p:cNvPr id="26" name="Approach note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Every cleaning decision is recorded in the data quality log, so each number in this deck can be traced back to the raw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57% of orders are late because we promise faster than we deliver</a:t>
            </a:r>
            <a:endParaRPr lang="en-US" sz="3200" dirty="0"/>
          </a:p>
        </p:txBody>
      </p:sp>
      <p:graphicFrame>
        <p:nvGraphicFramePr>
          <p:cNvPr id="3" name="Promised vs actual chart" descr=""/>
          <p:cNvGraphicFramePr/>
          <p:nvPr/>
        </p:nvGraphicFramePr>
        <p:xfrm>
          <a:off x="548640" y="15087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rst Class card"/>
          <p:cNvSpPr/>
          <p:nvPr/>
        </p:nvSpPr>
        <p:spPr>
          <a:xfrm>
            <a:off x="7680960" y="1600200"/>
            <a:ext cx="39319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First Class value"/>
          <p:cNvSpPr txBox="1"/>
          <p:nvPr/>
        </p:nvSpPr>
        <p:spPr>
          <a:xfrm>
            <a:off x="7955280" y="1783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100%</a:t>
            </a:r>
            <a:endParaRPr lang="en-US" sz="4800" dirty="0"/>
          </a:p>
        </p:txBody>
      </p:sp>
      <p:sp>
        <p:nvSpPr>
          <p:cNvPr id="6" name="First Class label"/>
          <p:cNvSpPr txBox="1"/>
          <p:nvPr/>
        </p:nvSpPr>
        <p:spPr>
          <a:xfrm>
            <a:off x="7955280" y="2743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First Class orders arrive late, in every market</a:t>
            </a:r>
            <a:endParaRPr lang="en-US" sz="1500" dirty="0"/>
          </a:p>
        </p:txBody>
      </p:sp>
      <p:sp>
        <p:nvSpPr>
          <p:cNvPr id="7" name="After fix card"/>
          <p:cNvSpPr/>
          <p:nvPr/>
        </p:nvSpPr>
        <p:spPr>
          <a:xfrm>
            <a:off x="7680960" y="3886200"/>
            <a:ext cx="39319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After fix value"/>
          <p:cNvSpPr txBox="1"/>
          <p:nvPr/>
        </p:nvSpPr>
        <p:spPr>
          <a:xfrm>
            <a:off x="7955280" y="4069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34.3%</a:t>
            </a:r>
            <a:endParaRPr lang="en-US" sz="4800" dirty="0"/>
          </a:p>
        </p:txBody>
      </p:sp>
      <p:sp>
        <p:nvSpPr>
          <p:cNvPr id="9" name="After fix label"/>
          <p:cNvSpPr txBox="1"/>
          <p:nvPr/>
        </p:nvSpPr>
        <p:spPr>
          <a:xfrm>
            <a:off x="7955280" y="5029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late rate if First Class promises 2 days and Second Class 4 (from 57.3%)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Bigger discounts don't sell more, they just give margin away</a:t>
            </a:r>
            <a:endParaRPr lang="en-US" sz="3200" dirty="0"/>
          </a:p>
        </p:txBody>
      </p:sp>
      <p:graphicFrame>
        <p:nvGraphicFramePr>
          <p:cNvPr id="3" name="Units by discount chart" descr=""/>
          <p:cNvGraphicFramePr/>
          <p:nvPr/>
        </p:nvGraphicFramePr>
        <p:xfrm>
          <a:off x="548640" y="15087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oss-making items card"/>
          <p:cNvSpPr/>
          <p:nvPr/>
        </p:nvSpPr>
        <p:spPr>
          <a:xfrm>
            <a:off x="7680960" y="1600200"/>
            <a:ext cx="39319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Loss-making items value"/>
          <p:cNvSpPr txBox="1"/>
          <p:nvPr/>
        </p:nvSpPr>
        <p:spPr>
          <a:xfrm>
            <a:off x="7955280" y="1783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18.7%</a:t>
            </a:r>
            <a:endParaRPr lang="en-US" sz="4800" dirty="0"/>
          </a:p>
        </p:txBody>
      </p:sp>
      <p:sp>
        <p:nvSpPr>
          <p:cNvPr id="6" name="Loss-making items label"/>
          <p:cNvSpPr txBox="1"/>
          <p:nvPr/>
        </p:nvSpPr>
        <p:spPr>
          <a:xfrm>
            <a:off x="7955280" y="2743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items sell at a loss, costing $3.88M over three years</a:t>
            </a:r>
            <a:endParaRPr lang="en-US" sz="1500" dirty="0"/>
          </a:p>
        </p:txBody>
      </p:sp>
      <p:sp>
        <p:nvSpPr>
          <p:cNvPr id="7" name="Discount cap card"/>
          <p:cNvSpPr/>
          <p:nvPr/>
        </p:nvSpPr>
        <p:spPr>
          <a:xfrm>
            <a:off x="7680960" y="3886200"/>
            <a:ext cx="39319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Discount cap value"/>
          <p:cNvSpPr txBox="1"/>
          <p:nvPr/>
        </p:nvSpPr>
        <p:spPr>
          <a:xfrm>
            <a:off x="7955280" y="4069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+$1.14M</a:t>
            </a:r>
            <a:endParaRPr lang="en-US" sz="4800" dirty="0"/>
          </a:p>
        </p:txBody>
      </p:sp>
      <p:sp>
        <p:nvSpPr>
          <p:cNvPr id="9" name="Discount cap label"/>
          <p:cNvSpPr txBox="1"/>
          <p:nvPr/>
        </p:nvSpPr>
        <p:spPr>
          <a:xfrm>
            <a:off x="7955280" y="5029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extra profit from a 10% discount cap (+28.9%, about $367K in 2017)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Every suspected fraud order was paid by bank transfer</a:t>
            </a:r>
            <a:endParaRPr lang="en-US" sz="3200" dirty="0"/>
          </a:p>
        </p:txBody>
      </p:sp>
      <p:graphicFrame>
        <p:nvGraphicFramePr>
          <p:cNvPr id="3" name="Fraud by payment chart" descr=""/>
          <p:cNvGraphicFramePr/>
          <p:nvPr/>
        </p:nvGraphicFramePr>
        <p:xfrm>
          <a:off x="548640" y="15087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ule tile 1"/>
          <p:cNvSpPr/>
          <p:nvPr/>
        </p:nvSpPr>
        <p:spPr>
          <a:xfrm>
            <a:off x="7680960" y="1600200"/>
            <a:ext cx="1920240" cy="2057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Rule tile 1 value"/>
          <p:cNvSpPr txBox="1"/>
          <p:nvPr/>
        </p:nvSpPr>
        <p:spPr>
          <a:xfrm>
            <a:off x="786384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100%</a:t>
            </a:r>
            <a:endParaRPr lang="en-US" sz="3600" dirty="0"/>
          </a:p>
        </p:txBody>
      </p:sp>
      <p:sp>
        <p:nvSpPr>
          <p:cNvPr id="6" name="Rule tile 1 label"/>
          <p:cNvSpPr txBox="1"/>
          <p:nvPr/>
        </p:nvSpPr>
        <p:spPr>
          <a:xfrm>
            <a:off x="7863840" y="2697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suspected fraud caught</a:t>
            </a:r>
            <a:endParaRPr lang="en-US" sz="1400" dirty="0"/>
          </a:p>
        </p:txBody>
      </p:sp>
      <p:sp>
        <p:nvSpPr>
          <p:cNvPr id="7" name="Rule tile 2"/>
          <p:cNvSpPr/>
          <p:nvPr/>
        </p:nvSpPr>
        <p:spPr>
          <a:xfrm>
            <a:off x="9692640" y="1600200"/>
            <a:ext cx="1920240" cy="2057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Rule tile 2 value"/>
          <p:cNvSpPr txBox="1"/>
          <p:nvPr/>
        </p:nvSpPr>
        <p:spPr>
          <a:xfrm>
            <a:off x="9875520" y="1828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27.5%</a:t>
            </a:r>
            <a:endParaRPr lang="en-US" sz="3600" dirty="0"/>
          </a:p>
        </p:txBody>
      </p:sp>
      <p:sp>
        <p:nvSpPr>
          <p:cNvPr id="9" name="Rule tile 2 label"/>
          <p:cNvSpPr txBox="1"/>
          <p:nvPr/>
        </p:nvSpPr>
        <p:spPr>
          <a:xfrm>
            <a:off x="9875520" y="2697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orders held for checks</a:t>
            </a:r>
            <a:endParaRPr lang="en-US" sz="1400" dirty="0"/>
          </a:p>
        </p:txBody>
      </p:sp>
      <p:sp>
        <p:nvSpPr>
          <p:cNvPr id="10" name="Rule tile 3"/>
          <p:cNvSpPr/>
          <p:nvPr/>
        </p:nvSpPr>
        <p:spPr>
          <a:xfrm>
            <a:off x="7680960" y="3886200"/>
            <a:ext cx="1920240" cy="2057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Rule tile 3 value"/>
          <p:cNvSpPr txBox="1"/>
          <p:nvPr/>
        </p:nvSpPr>
        <p:spPr>
          <a:xfrm>
            <a:off x="7863840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8.2%</a:t>
            </a:r>
            <a:endParaRPr lang="en-US" sz="3600" dirty="0"/>
          </a:p>
        </p:txBody>
      </p:sp>
      <p:sp>
        <p:nvSpPr>
          <p:cNvPr id="12" name="Rule tile 3 label"/>
          <p:cNvSpPr txBox="1"/>
          <p:nvPr/>
        </p:nvSpPr>
        <p:spPr>
          <a:xfrm>
            <a:off x="7863840" y="4983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held orders are fraud</a:t>
            </a:r>
            <a:endParaRPr lang="en-US" sz="1400" dirty="0"/>
          </a:p>
        </p:txBody>
      </p:sp>
      <p:sp>
        <p:nvSpPr>
          <p:cNvPr id="13" name="Rule tile 4"/>
          <p:cNvSpPr/>
          <p:nvPr/>
        </p:nvSpPr>
        <p:spPr>
          <a:xfrm>
            <a:off x="9692640" y="3886200"/>
            <a:ext cx="1920240" cy="2057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Rule tile 4 value"/>
          <p:cNvSpPr txBox="1"/>
          <p:nvPr/>
        </p:nvSpPr>
        <p:spPr>
          <a:xfrm>
            <a:off x="9875520" y="41148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112</a:t>
            </a:r>
            <a:endParaRPr lang="en-US" sz="3600" dirty="0"/>
          </a:p>
        </p:txBody>
      </p:sp>
      <p:sp>
        <p:nvSpPr>
          <p:cNvPr id="15" name="Rule tile 4 label"/>
          <p:cNvSpPr txBox="1"/>
          <p:nvPr/>
        </p:nvSpPr>
        <p:spPr>
          <a:xfrm>
            <a:off x="9875520" y="4983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 a week (~3 an hour)</a:t>
            </a:r>
            <a:endParaRPr lang="en-US" sz="1400" dirty="0"/>
          </a:p>
        </p:txBody>
      </p:sp>
      <p:sp>
        <p:nvSpPr>
          <p:cNvPr id="16" name="Rule caption"/>
          <p:cNvSpPr txBox="1"/>
          <p:nvPr/>
        </p:nvSpPr>
        <p:spPr>
          <a:xfrm>
            <a:off x="768096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Rule tested: hold bank-transfer orders until payment clears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Start with the delivery promise: it costs nothing and works immediately</a:t>
            </a:r>
            <a:endParaRPr lang="en-US" sz="3200" dirty="0"/>
          </a:p>
        </p:txBody>
      </p:sp>
      <p:graphicFrame>
        <p:nvGraphicFramePr>
          <p:cNvPr id="8" name="Priorit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329184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Expected impact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3B8B5A"/>
                          </a:solidFill>
                        </a:rPr>
                        <a:t>1</a:t>
                      </a:r>
                      <a:endParaRPr lang="en-US" sz="28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A35"/>
                          </a:solidFill>
                        </a:rPr>
                        <a:t>Reset delivery promises: First Class 2 days, Second Class 4 days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A35"/>
                          </a:solidFill>
                        </a:rPr>
                        <a:t>Late rate falls from 57.3% to 34.3%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A35"/>
                          </a:solidFill>
                        </a:rPr>
                        <a:t>Low: a policy change, no extra cost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3864"/>
                          </a:solidFill>
                        </a:rPr>
                        <a:t>2</a:t>
                      </a:r>
                      <a:endParaRPr lang="en-US" sz="28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A35"/>
                          </a:solidFill>
                        </a:rPr>
                        <a:t>Hold bank-transfer orders until payment clears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A35"/>
                          </a:solidFill>
                        </a:rPr>
                        <a:t>Protects about $256K of profit a year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A35"/>
                          </a:solidFill>
                        </a:rPr>
                        <a:t>Medium: about 112 checks a week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18F01"/>
                          </a:solidFill>
                        </a:rPr>
                        <a:t>3</a:t>
                      </a:r>
                      <a:endParaRPr lang="en-US" sz="28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A35"/>
                          </a:solidFill>
                        </a:rPr>
                        <a:t>Cap discounts at 10%, then review loss-making lines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A35"/>
                          </a:solidFill>
                        </a:rPr>
                        <a:t>About +$367K profit a year (2017 basis)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A35"/>
                          </a:solidFill>
                        </a:rPr>
                        <a:t>Low: monitor volume for 1–2 quarters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Explore the full interactive dashboard</a:t>
            </a:r>
            <a:endParaRPr lang="en-US" sz="3200" dirty="0"/>
          </a:p>
        </p:txBody>
      </p:sp>
      <p:sp>
        <p:nvSpPr>
          <p:cNvPr id="3" name="Page 1 card"/>
          <p:cNvSpPr/>
          <p:nvPr/>
        </p:nvSpPr>
        <p:spPr>
          <a:xfrm>
            <a:off x="548640" y="16459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Page 1 name"/>
          <p:cNvSpPr txBox="1"/>
          <p:nvPr/>
        </p:nvSpPr>
        <p:spPr>
          <a:xfrm>
            <a:off x="822960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Overview</a:t>
            </a:r>
            <a:endParaRPr lang="en-US" sz="2000" dirty="0"/>
          </a:p>
        </p:txBody>
      </p:sp>
      <p:sp>
        <p:nvSpPr>
          <p:cNvPr id="5" name="Page 1 detail"/>
          <p:cNvSpPr txBox="1"/>
          <p:nvPr/>
        </p:nvSpPr>
        <p:spPr>
          <a:xfrm>
            <a:off x="822960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Revenue, margin, late rate and fraud at a glance</a:t>
            </a:r>
            <a:endParaRPr lang="en-US" sz="1500" dirty="0"/>
          </a:p>
        </p:txBody>
      </p:sp>
      <p:sp>
        <p:nvSpPr>
          <p:cNvPr id="6" name="Page 2 card"/>
          <p:cNvSpPr/>
          <p:nvPr/>
        </p:nvSpPr>
        <p:spPr>
          <a:xfrm>
            <a:off x="3410712" y="16459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Page 2 name"/>
          <p:cNvSpPr txBox="1"/>
          <p:nvPr/>
        </p:nvSpPr>
        <p:spPr>
          <a:xfrm>
            <a:off x="3685032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Delivery</a:t>
            </a:r>
            <a:endParaRPr lang="en-US" sz="2000" dirty="0"/>
          </a:p>
        </p:txBody>
      </p:sp>
      <p:sp>
        <p:nvSpPr>
          <p:cNvPr id="8" name="Page 2 detail"/>
          <p:cNvSpPr txBox="1"/>
          <p:nvPr/>
        </p:nvSpPr>
        <p:spPr>
          <a:xfrm>
            <a:off x="3685032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Promised vs actual days and late-rate heatmap</a:t>
            </a:r>
            <a:endParaRPr lang="en-US" sz="1500" dirty="0"/>
          </a:p>
        </p:txBody>
      </p:sp>
      <p:sp>
        <p:nvSpPr>
          <p:cNvPr id="9" name="Page 3 card"/>
          <p:cNvSpPr/>
          <p:nvPr/>
        </p:nvSpPr>
        <p:spPr>
          <a:xfrm>
            <a:off x="6272784" y="16459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Page 3 name"/>
          <p:cNvSpPr txBox="1"/>
          <p:nvPr/>
        </p:nvSpPr>
        <p:spPr>
          <a:xfrm>
            <a:off x="6547104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Profitability</a:t>
            </a:r>
            <a:endParaRPr lang="en-US" sz="2000" dirty="0"/>
          </a:p>
        </p:txBody>
      </p:sp>
      <p:sp>
        <p:nvSpPr>
          <p:cNvPr id="11" name="Page 3 detail"/>
          <p:cNvSpPr txBox="1"/>
          <p:nvPr/>
        </p:nvSpPr>
        <p:spPr>
          <a:xfrm>
            <a:off x="6547104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Discount analysis with a what-if slider</a:t>
            </a:r>
            <a:endParaRPr lang="en-US" sz="1500" dirty="0"/>
          </a:p>
        </p:txBody>
      </p:sp>
      <p:sp>
        <p:nvSpPr>
          <p:cNvPr id="12" name="Page 4 card"/>
          <p:cNvSpPr/>
          <p:nvPr/>
        </p:nvSpPr>
        <p:spPr>
          <a:xfrm>
            <a:off x="9134856" y="16459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Page 4 name"/>
          <p:cNvSpPr txBox="1"/>
          <p:nvPr/>
        </p:nvSpPr>
        <p:spPr>
          <a:xfrm>
            <a:off x="9409176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Fraud</a:t>
            </a:r>
            <a:endParaRPr lang="en-US" sz="2000" dirty="0"/>
          </a:p>
        </p:txBody>
      </p:sp>
      <p:sp>
        <p:nvSpPr>
          <p:cNvPr id="14" name="Page 4 detail"/>
          <p:cNvSpPr txBox="1"/>
          <p:nvPr/>
        </p:nvSpPr>
        <p:spPr>
          <a:xfrm>
            <a:off x="9409176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Payment-type risk and the hold-rule test</a:t>
            </a:r>
            <a:endParaRPr lang="en-US" sz="1500" dirty="0"/>
          </a:p>
        </p:txBody>
      </p:sp>
      <p:sp>
        <p:nvSpPr>
          <p:cNvPr id="15" name="GitHub link"/>
          <p:cNvSpPr txBox="1"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CD8"/>
                </a:solidFill>
              </a:rPr>
              <a:t>Code, SQL, notebooks and Power BI file</a:t>
            </a:r>
            <a:endParaRPr lang="en-US" sz="1800" dirty="0"/>
          </a:p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github.com/GLICON/dataco-supply-chain-analysis</a:t>
            </a:r>
            <a:endParaRPr lang="en-US" sz="1800" dirty="0"/>
          </a:p>
        </p:txBody>
      </p:sp>
      <p:sp>
        <p:nvSpPr>
          <p:cNvPr id="16" name="Method notes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3CCD8"/>
                </a:solidFill>
              </a:rPr>
              <a:t>Notes: </a:t>
            </a:r>
            <a:pPr indent="0" marL="0">
              <a:buNone/>
            </a:pPr>
            <a:r>
              <a:rPr lang="en-US" sz="1200" dirty="0">
                <a:solidFill>
                  <a:srgbClr val="C3CCD8"/>
                </a:solidFill>
              </a:rPr>
              <a:t>fraud means orders labelled suspected fraud, not confirmed cases. delivery_status was excluded from the fraud analysis because it is set after the fraud decision (data leakage). Data covers Jan 2015 – Jan 2018 from the public DataCo dataset; DataCo is not a real client.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Co Navy">
  <a:themeElements>
    <a:clrScheme name="DataCo Navy">
      <a:dk1>
        <a:srgbClr val="222A35"/>
      </a:dk1>
      <a:lt1>
        <a:srgbClr val="FFFFFF"/>
      </a:lt1>
      <a:dk2>
        <a:srgbClr val="1F3864"/>
      </a:dk2>
      <a:lt2>
        <a:srgbClr val="EEF1F5"/>
      </a:lt2>
      <a:accent1>
        <a:srgbClr val="1F3864"/>
      </a:accent1>
      <a:accent2>
        <a:srgbClr val="2E86AB"/>
      </a:accent2>
      <a:accent3>
        <a:srgbClr val="F18F01"/>
      </a:accent3>
      <a:accent4>
        <a:srgbClr val="C73E1D"/>
      </a:accent4>
      <a:accent5>
        <a:srgbClr val="3B8B5A"/>
      </a:accent5>
      <a:accent6>
        <a:srgbClr val="8E8E8E"/>
      </a:accent6>
      <a:hlink>
        <a:srgbClr val="2E86AB"/>
      </a:hlink>
      <a:folHlink>
        <a:srgbClr val="1F3864"/>
      </a:folHlink>
    </a:clrScheme>
    <a:fontScheme name="DataCo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DataCo Supply Chain Analysis</dc:title>
  <dc:subject>PptxGenJS Presentation</dc:subject>
  <dc:creator>Adebayo Atkinson</dc:creator>
  <cp:lastModifiedBy>Adebayo Atkinson</cp:lastModifiedBy>
  <cp:revision>1</cp:revision>
  <dcterms:created xsi:type="dcterms:W3CDTF">2026-10-19T18:11:27Z</dcterms:created>
  <dcterms:modified xsi:type="dcterms:W3CDTF">2026-10-19T18:11:27Z</dcterms:modified>
</cp:coreProperties>
</file>